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2194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B8A6"/>
                </a:solidFill>
              </a:defRPr>
            </a:pPr>
            <a:r>
              <a:t>TRAVAIL DE RECHERCHE  •  TEST ET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FFFFFF"/>
                </a:solidFill>
              </a:defRPr>
            </a:pPr>
            <a:r>
              <a:t>Outils de test statique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FFFFFF"/>
                </a:solidFill>
              </a:defRPr>
            </a:pPr>
            <a:r>
              <a:t>Application au projet PI – FakarniApp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4B8A6"/>
                </a:solidFill>
              </a:defRPr>
            </a:pPr>
            <a:r>
              <a:t>SonarCloud / SonarQube + GitHub Actions + JUnit + JaCoCo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</a:defRPr>
            </a:pPr>
            <a:r>
              <a:t>Classe 4SAE5  •  Esprit_PI_4SAE5_2026_FakarniApp  • 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Contexte et objectif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Tests statiques :  </a:t>
            </a:r>
            <a:r>
              <a:rPr sz="1800">
                <a:solidFill>
                  <a:srgbClr val="4B5563"/>
                </a:solidFill>
              </a:rPr>
              <a:t>analyse du code source sans l'exécuter.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Ce qu'ils détectent :  </a:t>
            </a:r>
            <a:r>
              <a:rPr sz="1800">
                <a:solidFill>
                  <a:srgbClr val="4B5563"/>
                </a:solidFill>
              </a:rPr>
              <a:t>défauts de qualité, risques de sécurité, duplications, maintenabilité.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9184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Dans FakarniApp :  </a:t>
            </a:r>
            <a:r>
              <a:rPr sz="1800">
                <a:solidFill>
                  <a:srgbClr val="4B5563"/>
                </a:solidFill>
              </a:rPr>
              <a:t>analyse intégrée à la CI/CD via SonarCloud.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69079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Tests dynamiques :  </a:t>
            </a:r>
            <a:r>
              <a:rPr sz="1800">
                <a:solidFill>
                  <a:srgbClr val="4B5563"/>
                </a:solidFill>
              </a:rPr>
              <a:t>exécutés avec JUnit et suivis par JaCoCo.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4632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Objectif :  </a:t>
            </a:r>
            <a:r>
              <a:rPr sz="1800">
                <a:solidFill>
                  <a:srgbClr val="4B5563"/>
                </a:solidFill>
              </a:rPr>
              <a:t>présenter un outil statique et montrer son intégration réelle dans le projet 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SonarCloud / SonarQube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B5563"/>
                </a:solidFill>
              </a:defRPr>
            </a:pPr>
            <a:r>
              <a:t>SonarQube est une plateforme d'analyse statique ; SonarCloud est sa version hébergée dans le cloud. Ils détectent automatiquement les problèmes de fiabilité, sécurité et maintenabilité.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10972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F1B3D"/>
                </a:solidFill>
              </a:defRPr>
            </a:pPr>
            <a:r>
              <a:t>Bugs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Comportement incorrect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92608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926080"/>
            <a:ext cx="10972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F1B3D"/>
                </a:solidFill>
              </a:defRPr>
            </a:pPr>
            <a:r>
              <a:t>Vulnerabilities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Failles de sécurité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92608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2926080"/>
            <a:ext cx="10972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F1B3D"/>
                </a:solidFill>
              </a:defRPr>
            </a:pPr>
            <a:r>
              <a:t>Code Smells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Code difficile à maintenir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7200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10972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F1B3D"/>
                </a:solidFill>
              </a:defRPr>
            </a:pPr>
            <a:r>
              <a:t>Security Hotspots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Zones à vérifier à la main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7200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572000"/>
            <a:ext cx="10972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F1B3D"/>
                </a:solidFill>
              </a:defRPr>
            </a:pPr>
            <a:r>
              <a:t>Duplications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Code répété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457200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4572000"/>
            <a:ext cx="10972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F1B3D"/>
                </a:solidFill>
              </a:defRPr>
            </a:pPr>
            <a:r>
              <a:t>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Importée depuis JaCoCo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Pourquoi SonarCloud pour FakarniApp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Architecture :  </a:t>
            </a:r>
            <a:r>
              <a:rPr sz="1800">
                <a:solidFill>
                  <a:srgbClr val="4B5563"/>
                </a:solidFill>
              </a:rPr>
              <a:t>plusieurs microservices Java / Spring Boot.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Intégration :  </a:t>
            </a:r>
            <a:r>
              <a:rPr sz="1800">
                <a:solidFill>
                  <a:srgbClr val="4B5563"/>
                </a:solidFill>
              </a:rPr>
              <a:t>directe avec GitHub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Couverture :  </a:t>
            </a:r>
            <a:r>
              <a:rPr sz="1800">
                <a:solidFill>
                  <a:srgbClr val="4B5563"/>
                </a:solidFill>
              </a:rPr>
              <a:t>exploite les rapports JaCoCo.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51959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Démarche :  </a:t>
            </a:r>
            <a:r>
              <a:rPr sz="1800">
                <a:solidFill>
                  <a:srgbClr val="4B5563"/>
                </a:solidFill>
              </a:rPr>
              <a:t>parfaitement adaptée à notre CI/CD.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Architecture de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406640"/>
              </a:tblGrid>
              <a:tr h="56692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Outil / composant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Rôle dans le projet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Automatise build, tests, analyse statique et Docker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JUnit / Spring Boot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Tests dynamiques des contrôleurs, services et contexte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Maven Surefire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Génère les rapports XML de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JaCoCo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Mesure la couverture de code 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SonarCloud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Analyse statique qualité et sécurité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4B5563"/>
                          </a:solidFill>
                        </a:defRPr>
                      </a:pPr>
                      <a:r>
                        <a:t>Construit et publie l'image après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Tests dynamiques vs analyse statique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303520" cy="7315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Tests dynamiques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B5563"/>
                </a:solidFill>
              </a:defRPr>
            </a:pPr>
            <a:r>
              <a:t>• JUnit / Spring Boot Test</a:t>
            </a:r>
          </a:p>
          <a:p>
            <a:pPr>
              <a:spcAft>
                <a:spcPts val="800"/>
              </a:spcAft>
              <a:defRPr sz="1800" b="0">
                <a:solidFill>
                  <a:srgbClr val="4B5563"/>
                </a:solidFill>
              </a:defRPr>
            </a:pPr>
            <a:r>
              <a:t>• Exécutent le code</a:t>
            </a:r>
          </a:p>
          <a:p>
            <a:pPr>
              <a:spcAft>
                <a:spcPts val="800"/>
              </a:spcAft>
              <a:defRPr sz="1800" b="0">
                <a:solidFill>
                  <a:srgbClr val="4B5563"/>
                </a:solidFill>
              </a:defRPr>
            </a:pPr>
            <a:r>
              <a:t>• Vérifient comportements et composants</a:t>
            </a:r>
          </a:p>
          <a:p>
            <a:pPr>
              <a:spcAft>
                <a:spcPts val="800"/>
              </a:spcAft>
              <a:defRPr sz="1800" b="0">
                <a:solidFill>
                  <a:srgbClr val="4B5563"/>
                </a:solidFill>
              </a:defRPr>
            </a:pPr>
            <a:r>
              <a:t>• JaCoCo mesure la couverture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303520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Analyse statique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B5563"/>
                </a:solidFill>
              </a:defRPr>
            </a:pPr>
            <a:r>
              <a:t>• SonarCloud / SonarQube</a:t>
            </a:r>
          </a:p>
          <a:p>
            <a:pPr>
              <a:spcAft>
                <a:spcPts val="800"/>
              </a:spcAft>
              <a:defRPr sz="1800" b="0">
                <a:solidFill>
                  <a:srgbClr val="4B5563"/>
                </a:solidFill>
              </a:defRPr>
            </a:pPr>
            <a:r>
              <a:t>• Analyse sans exécuter les scénarios</a:t>
            </a:r>
          </a:p>
          <a:p>
            <a:pPr>
              <a:spcAft>
                <a:spcPts val="800"/>
              </a:spcAft>
              <a:defRPr sz="1800" b="0">
                <a:solidFill>
                  <a:srgbClr val="4B5563"/>
                </a:solidFill>
              </a:defRPr>
            </a:pPr>
            <a:r>
              <a:t>• Détecte bugs, vulnérabilités, code smells, duplications</a:t>
            </a:r>
          </a:p>
          <a:p>
            <a:pPr>
              <a:spcAft>
                <a:spcPts val="800"/>
              </a:spcAft>
              <a:defRPr sz="1800" b="0">
                <a:solidFill>
                  <a:srgbClr val="4B5563"/>
                </a:solidFill>
              </a:defRPr>
            </a:pPr>
            <a:r>
              <a:t>• Exploite la couverture JaCoCo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4B5563"/>
                </a:solidFill>
              </a:defRPr>
            </a:pPr>
            <a:r>
              <a:t>Les deux approches sont complémentaires.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Application réelle : pipeline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44215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463040"/>
            <a:ext cx="4023360" cy="621792"/>
          </a:xfrm>
          <a:prstGeom prst="round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554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1.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212848"/>
            <a:ext cx="4023360" cy="621792"/>
          </a:xfrm>
          <a:prstGeom prst="round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2. Test + JaCoCo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962656"/>
            <a:ext cx="4023360" cy="621792"/>
          </a:xfrm>
          <a:prstGeom prst="round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054096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3. Publish test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12464"/>
            <a:ext cx="4023360" cy="62179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80390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4. SonarCloud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4462272"/>
            <a:ext cx="4023360" cy="621792"/>
          </a:xfrm>
          <a:prstGeom prst="round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55371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5. Package JAR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5212079"/>
            <a:ext cx="4023360" cy="621792"/>
          </a:xfrm>
          <a:prstGeom prst="round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530351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6. Docker Build &amp;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4B5563"/>
                </a:solidFill>
              </a:defRPr>
            </a:pPr>
            <a:r>
              <a:t>Service Suivi Engagement – job terminé avec succès, toutes les étapes validées.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Suivi Engagement : 3 tests réussis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8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404649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645920"/>
          <a:ext cx="4480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40080"/>
                <a:gridCol w="64008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Suite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KO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Ign.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PatientEngagementControllerTest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PatientEngagementServiceTest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SuiviEngagement…Tests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F1B3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F1B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F1B3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F1B3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4B5563"/>
                </a:solidFill>
              </a:defRPr>
            </a:pPr>
            <a:r>
              <a:t>Tests de base (chargement de classes, contexte Spring) : utiles mais ne remplacent pas des tests métier détaillés.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User Service : 15 tests réussis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9</a:t>
            </a:r>
          </a:p>
        </p:txBody>
      </p:sp>
      <p:pic>
        <p:nvPicPr>
          <p:cNvPr id="7" name="Picture 6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40725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55448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• AuthControllerTest : 2 (login, révocation refresh token)</a:t>
            </a:r>
          </a:p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• InternalUserControllerTest : 1</a:t>
            </a:r>
          </a:p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• UserControllerTest : 3</a:t>
            </a:r>
          </a:p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• JwtServiceTest, SessionCookieServiceTest : sécurité et sessions</a:t>
            </a:r>
          </a:p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• AuthServiceTest, EmailServiceTest, UserServiceTest : couche service</a:t>
            </a:r>
          </a:p>
          <a:p>
            <a:pPr>
              <a:spcAft>
                <a:spcPts val="800"/>
              </a:spcAft>
              <a:defRPr sz="1600" b="0">
                <a:solidFill>
                  <a:srgbClr val="4B5563"/>
                </a:solidFill>
              </a:defRPr>
            </a:pPr>
            <a:r>
              <a:t>• UserApplicationTests : contexte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4B5563"/>
                </a:solidFill>
              </a:defRPr>
            </a:pPr>
            <a:r>
              <a:t>Scénarios précis sur l'authentification, au-delà des simples tests de chargement.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Group Service : 8 tests réussis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303403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645920"/>
          <a:ext cx="4480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Composant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JwtServiceTest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FileUploadControllerTest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GroupControllerTest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GroupApplicationTests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GroupServiceTest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F1B3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F1B3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4B5563"/>
                </a:solidFill>
              </a:defRPr>
            </a:pPr>
            <a:r>
              <a:t>Configuration JWT, upload de fichiers, contrôleur, service et contexte Spring Boot.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Event Service : 10 tests réussis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11</a:t>
            </a:r>
          </a:p>
        </p:txBody>
      </p:sp>
      <p:pic>
        <p:nvPicPr>
          <p:cNvPr id="7" name="Picture 6" descr="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31454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645920"/>
          <a:ext cx="4480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Suite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EmailControllerTest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EventControllerTest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MapsControllerTest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EventServiceApplicationTests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EmailServiceTest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EventServiceTest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B556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F1B3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F1B3D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4B5563"/>
                </a:solidFill>
              </a:defRPr>
            </a:pPr>
            <a:r>
              <a:t>Contrôleurs et services liés aux événements, à l'email et aux cartes.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Bilan global : 36 tests réussis, 0 échec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676656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188720"/>
                <a:gridCol w="1280160"/>
                <a:gridCol w="1188720"/>
              </a:tblGrid>
              <a:tr h="640079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Microservice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Réussis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Échecs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Ignorés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Suivi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User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Group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Event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4B556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F1B3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F1B3D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F1B3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F1B3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645920"/>
            <a:ext cx="3749039" cy="3840480"/>
          </a:xfrm>
          <a:prstGeom prst="round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9000" b="1">
                <a:solidFill>
                  <a:srgbClr val="14B8A6"/>
                </a:solidFill>
              </a:defRPr>
            </a:pPr>
            <a: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840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tests dynamiques réussis sur 4 microservices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Interprétation par rapport au test statique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36 tests visibles :  </a:t>
            </a:r>
            <a:r>
              <a:rPr sz="1800">
                <a:solidFill>
                  <a:srgbClr val="4B5563"/>
                </a:solidFill>
              </a:rPr>
              <a:t>dynamiques (exécution du code, rapports Surefire).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Élément statique :  </a:t>
            </a:r>
            <a:r>
              <a:rPr sz="1800">
                <a:solidFill>
                  <a:srgbClr val="4B5563"/>
                </a:solidFill>
              </a:rPr>
              <a:t>l'étape « SonarCloud analysis » du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83279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À compléter :  </a:t>
            </a:r>
            <a:r>
              <a:rPr sz="1800">
                <a:solidFill>
                  <a:srgbClr val="4B5563"/>
                </a:solidFill>
              </a:rPr>
              <a:t>capture du tableau de bord SonarCloud (Bugs, Vulnerabilities, Code Smells, Hotspots, Coverage, Duplications, Quality Gate).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0519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7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Honnêteté :  </a:t>
            </a:r>
            <a:r>
              <a:rPr sz="1800">
                <a:solidFill>
                  <a:srgbClr val="4B5563"/>
                </a:solidFill>
              </a:rPr>
              <a:t>ces métriques ne figurent pas dans les captures, elles ne sont donc pas inventées.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B5563"/>
                </a:solidFill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SonarCloud  </a:t>
            </a:r>
            <a:r>
              <a:rPr sz="1800">
                <a:solidFill>
                  <a:srgbClr val="4B5563"/>
                </a:solidFill>
              </a:rPr>
              <a:t>est notre outil statique, équivalent cloud de SonarQube.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Intégré  </a:t>
            </a:r>
            <a:r>
              <a:rPr sz="1800">
                <a:solidFill>
                  <a:srgbClr val="4B5563"/>
                </a:solidFill>
              </a:rPr>
              <a:t>dans GitHub Actions après les tests et JaCoCo.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9184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36 tests  </a:t>
            </a:r>
            <a:r>
              <a:rPr sz="1800">
                <a:solidFill>
                  <a:srgbClr val="4B5563"/>
                </a:solidFill>
              </a:rPr>
              <a:t>dynamiques réussis sur quatre microservices.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69079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Complémentarité :  </a:t>
            </a:r>
            <a:r>
              <a:rPr sz="1800">
                <a:solidFill>
                  <a:srgbClr val="4B5563"/>
                </a:solidFill>
              </a:rPr>
              <a:t>JUnit + JaCoCo vérifient le comportement, SonarCloud la qualité interne.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46320"/>
            <a:ext cx="128016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F1B3D"/>
                </a:solidFill>
              </a:rPr>
              <a:t>Résultat :  </a:t>
            </a:r>
            <a:r>
              <a:rPr sz="1800">
                <a:solidFill>
                  <a:srgbClr val="4B5563"/>
                </a:solidFill>
              </a:rPr>
              <a:t>fiabilité, maintenabilité et sécurité accrues, puis packaging et build Docker.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7760" y="3566160"/>
            <a:ext cx="22860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600" b="0">
                <a:solidFill>
                  <a:srgbClr val="14B8A6"/>
                </a:solidFill>
              </a:defRPr>
            </a:pPr>
            <a:r>
              <a:t>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