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28016" cy="21031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097280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4B8A6"/>
                </a:solidFill>
                <a:latin typeface="Calibri"/>
              </a:rPr>
              <a:t>ATELIER 3  –  ARCHITECTURE LOGICIELLE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0020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Smart Project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697480"/>
            <a:ext cx="100584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800" b="0" i="0">
                <a:solidFill>
                  <a:srgbClr val="CBD5E1"/>
                </a:solidFill>
                <a:latin typeface="Calibri"/>
              </a:rPr>
              <a:t>Modélisation de la vue building block du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120640"/>
            <a:ext cx="8229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</a:rPr>
              <a:t>ESPRIT University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</a:rPr>
              <a:t>Travail de groupe – Atelier 3 – Semaine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4206240"/>
            <a:ext cx="1965960" cy="594360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4B8A6"/>
                </a:solidFill>
                <a:latin typeface="Calibri"/>
              </a:rPr>
              <a:t>Angular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19" y="4206240"/>
            <a:ext cx="1965960" cy="594360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4B8A6"/>
                </a:solidFill>
                <a:latin typeface="Calibri"/>
              </a:rPr>
              <a:t>Express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4983479"/>
            <a:ext cx="1965960" cy="594360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4B8A6"/>
                </a:solidFill>
                <a:latin typeface="Calibri"/>
              </a:rPr>
              <a:t>MongoDB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19" y="4983479"/>
            <a:ext cx="1965960" cy="594360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4B8A6"/>
                </a:solidFill>
                <a:latin typeface="Calibri"/>
              </a:rPr>
              <a:t>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Objectifs et démarche de l'atelier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Atelier 3 – Smart Project Manager – Vue building block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000" b="1" i="0">
                <a:solidFill>
                  <a:srgbClr val="0F1B3D"/>
                </a:solidFill>
                <a:latin typeface="Calibri"/>
              </a:rPr>
              <a:t>Packages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2286000" cy="1554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Modéliser les exigences fonctionnelles de l'atelier 1 (FR-01 à FR-15) par des packages.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18688" y="3108960"/>
            <a:ext cx="146304" cy="0"/>
          </a:xfrm>
          <a:prstGeom prst="line">
            <a:avLst/>
          </a:prstGeom>
          <a:ln w="31750">
            <a:solidFill>
              <a:srgbClr val="14B8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38328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11880" y="1783080"/>
            <a:ext cx="640080" cy="6400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6032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000" b="1" i="0">
                <a:solidFill>
                  <a:srgbClr val="0F1B3D"/>
                </a:solidFill>
                <a:latin typeface="Calibri"/>
              </a:rPr>
              <a:t>Raffinement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063240"/>
            <a:ext cx="2286000" cy="1554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Descendre du système vers ses blocs : black box puis white box, avec sous-packages, composants et classes.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53328" y="3108960"/>
            <a:ext cx="146304" cy="0"/>
          </a:xfrm>
          <a:prstGeom prst="line">
            <a:avLst/>
          </a:prstGeom>
          <a:ln w="31750">
            <a:solidFill>
              <a:srgbClr val="14B8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21792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1783080"/>
            <a:ext cx="640080" cy="6400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6032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000" b="1" i="0">
                <a:solidFill>
                  <a:srgbClr val="0F1B3D"/>
                </a:solidFill>
                <a:latin typeface="Calibri"/>
              </a:rPr>
              <a:t>Interactions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63240"/>
            <a:ext cx="2286000" cy="1554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Définir les liens de dépendance et les interfaces fournies / requises entre les blocs.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87967" y="3108960"/>
            <a:ext cx="146305" cy="0"/>
          </a:xfrm>
          <a:prstGeom prst="line">
            <a:avLst/>
          </a:prstGeom>
          <a:ln w="31750">
            <a:solidFill>
              <a:srgbClr val="14B8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05256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81160" y="1783080"/>
            <a:ext cx="640080" cy="6400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56032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000" b="1" i="0">
                <a:solidFill>
                  <a:srgbClr val="0F1B3D"/>
                </a:solidFill>
                <a:latin typeface="Calibri"/>
              </a:rPr>
              <a:t>Méthodes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063240"/>
            <a:ext cx="2286000" cy="1554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Ajouter les méthodes aux classes principales de chaque package.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029200"/>
            <a:ext cx="11064240" cy="1051560"/>
          </a:xfrm>
          <a:prstGeom prst="rect">
            <a:avLst/>
          </a:prstGeom>
          <a:solidFill>
            <a:srgbClr val="DD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120640"/>
            <a:ext cx="1060704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0F1B3D"/>
                </a:solidFill>
                <a:latin typeface="Calibri"/>
              </a:rPr>
              <a:t>Principe : black box = ce que fait un bloc et par quelles interfaces ; white box = comment il est composé en interne.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0F1B3D"/>
                </a:solidFill>
                <a:latin typeface="Calibri"/>
              </a:rPr>
              <a:t>Le projet a trois blocs exécutables (frontend, backend, service IA) et une base de données : la vue est donc hiérarchique.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Calibri"/>
              </a:rPr>
              <a:t>ÉTAPE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Des exigences fonctionnelles aux packages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Atelier 3 – Smart Project Manager – Vue building block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286000" cy="585216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Identity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1664208"/>
            <a:ext cx="393192" cy="0"/>
          </a:xfrm>
          <a:prstGeom prst="line">
            <a:avLst/>
          </a:prstGeom>
          <a:ln w="31750">
            <a:solidFill>
              <a:srgbClr val="14B8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91840" y="1371600"/>
            <a:ext cx="8321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371600"/>
            <a:ext cx="8138160" cy="5852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FR-01 Authentification · FR-02 Utilisateurs · FR-03 Profils · FR-04 Compétences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75688"/>
            <a:ext cx="2286000" cy="585216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Projects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52928" y="2368296"/>
            <a:ext cx="393192" cy="0"/>
          </a:xfrm>
          <a:prstGeom prst="line">
            <a:avLst/>
          </a:prstGeom>
          <a:ln w="31750">
            <a:solidFill>
              <a:srgbClr val="14B8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291840" y="2075688"/>
            <a:ext cx="8321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075688"/>
            <a:ext cx="8138160" cy="5852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FR-05 Projets · FR-06 Équipes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79776"/>
            <a:ext cx="2286000" cy="585216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Sprints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52928" y="3072384"/>
            <a:ext cx="393192" cy="0"/>
          </a:xfrm>
          <a:prstGeom prst="line">
            <a:avLst/>
          </a:prstGeom>
          <a:ln w="31750">
            <a:solidFill>
              <a:srgbClr val="14B8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291840" y="2779776"/>
            <a:ext cx="8321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2779776"/>
            <a:ext cx="8138160" cy="5852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FR-07 Sprints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83864"/>
            <a:ext cx="2286000" cy="585216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Tasks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52928" y="3776472"/>
            <a:ext cx="393192" cy="0"/>
          </a:xfrm>
          <a:prstGeom prst="line">
            <a:avLst/>
          </a:prstGeom>
          <a:ln w="31750">
            <a:solidFill>
              <a:srgbClr val="14B8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291840" y="3483864"/>
            <a:ext cx="8321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3483864"/>
            <a:ext cx="8138160" cy="5852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FR-08 Tâches · FR-09 Kanban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87952"/>
            <a:ext cx="2286000" cy="585216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Collaboration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852928" y="4480560"/>
            <a:ext cx="393192" cy="0"/>
          </a:xfrm>
          <a:prstGeom prst="line">
            <a:avLst/>
          </a:prstGeom>
          <a:ln w="31750">
            <a:solidFill>
              <a:srgbClr val="14B8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291840" y="4187952"/>
            <a:ext cx="8321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4187952"/>
            <a:ext cx="8138160" cy="5852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FR-10 Commentaires · FR-11 Historique d'activité · FR-12 Notifications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92040"/>
            <a:ext cx="2286000" cy="585216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Insight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852928" y="5184648"/>
            <a:ext cx="393192" cy="0"/>
          </a:xfrm>
          <a:prstGeom prst="line">
            <a:avLst/>
          </a:prstGeom>
          <a:ln w="31750">
            <a:solidFill>
              <a:srgbClr val="14B8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291840" y="4892040"/>
            <a:ext cx="8321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4892040"/>
            <a:ext cx="8138160" cy="5852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FR-13 Tableaux de bord · FR-14 Recherche et filtres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596128"/>
            <a:ext cx="2286000" cy="585216"/>
          </a:xfrm>
          <a:prstGeom prst="roundRect">
            <a:avLst>
              <a:gd name="adj" fmla="val 12000"/>
            </a:avLst>
          </a:prstGeom>
          <a:solidFill>
            <a:srgbClr val="0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852928" y="5888736"/>
            <a:ext cx="393192" cy="0"/>
          </a:xfrm>
          <a:prstGeom prst="line">
            <a:avLst/>
          </a:prstGeom>
          <a:ln w="31750">
            <a:solidFill>
              <a:srgbClr val="14B8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291840" y="5596128"/>
            <a:ext cx="8321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9000" y="5596128"/>
            <a:ext cx="8138160" cy="5852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FR-15 IA : AI-01 plan, AI-02 recommandation, AI-03 risque de retard, AI-04 assistant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Calibri"/>
              </a:rPr>
              <a:t>VUE BUILDING 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Niveau 0 – Black box du système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Atelier 3 – Smart Project Manager – Vue building block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651760"/>
            <a:ext cx="3200400" cy="1554480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Smart Project Manager</a:t>
            </a:r>
          </a:p>
          <a:p>
            <a:pPr algn="ctr"/>
            <a:r>
              <a:rPr sz="1900" b="0">
                <a:solidFill>
                  <a:srgbClr val="FFFFFF"/>
                </a:solidFill>
                <a:latin typeface="Calibri"/>
              </a:rPr>
              <a:t>Plateforme de gestion de projets logiciels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2926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80160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0F1B3D"/>
                </a:solidFill>
                <a:latin typeface="Calibri"/>
              </a:rPr>
              <a:t>Administrateur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265176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Gère utilisateurs, rôles, comptes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93008" y="1737360"/>
            <a:ext cx="969264" cy="1691640"/>
          </a:xfrm>
          <a:prstGeom prst="line">
            <a:avLst/>
          </a:prstGeom>
          <a:ln w="25400">
            <a:solidFill>
              <a:srgbClr val="14B8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48640" y="2606040"/>
            <a:ext cx="2926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51760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0F1B3D"/>
                </a:solidFill>
                <a:latin typeface="Calibri"/>
              </a:rPr>
              <a:t>Chef de projet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17520"/>
            <a:ext cx="265176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Projets, sprints, tâches, IA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93008" y="3108960"/>
            <a:ext cx="969264" cy="320040"/>
          </a:xfrm>
          <a:prstGeom prst="line">
            <a:avLst/>
          </a:prstGeom>
          <a:ln w="25400">
            <a:solidFill>
              <a:srgbClr val="14B8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48640" y="3977640"/>
            <a:ext cx="2926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0F1B3D"/>
                </a:solidFill>
                <a:latin typeface="Calibri"/>
              </a:rPr>
              <a:t>Développeur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89120"/>
            <a:ext cx="265176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Tâches, commentaires, profil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493008" y="3429000"/>
            <a:ext cx="969264" cy="1051560"/>
          </a:xfrm>
          <a:prstGeom prst="line">
            <a:avLst/>
          </a:prstGeom>
          <a:ln w="25400">
            <a:solidFill>
              <a:srgbClr val="14B8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43200" y="4983480"/>
            <a:ext cx="21031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0E7F74"/>
                </a:solidFill>
                <a:latin typeface="Calibri"/>
              </a:rPr>
              <a:t>Interface web (HTTPS)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2788920"/>
            <a:ext cx="3017520" cy="1280160"/>
          </a:xfrm>
          <a:prstGeom prst="rect">
            <a:avLst/>
          </a:prstGeom>
          <a:solidFill>
            <a:srgbClr val="FDF0D5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834640"/>
            <a:ext cx="28346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F1B3D"/>
                </a:solidFill>
                <a:latin typeface="Calibri"/>
              </a:rPr>
              <a:t>Fournisseur LLM (OpenAI)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246120"/>
            <a:ext cx="283464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>Système externe, optionnel : un analyseur local prend le relais s'il est absent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99248" y="3429000"/>
            <a:ext cx="877824" cy="0"/>
          </a:xfrm>
          <a:prstGeom prst="line">
            <a:avLst/>
          </a:prstGeom>
          <a:ln w="3175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89520" y="2926080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API LLM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solidFill>
            <a:srgbClr val="DD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440680"/>
            <a:ext cx="106070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F1B3D"/>
                </a:solidFill>
                <a:latin typeface="Calibri"/>
              </a:rPr>
              <a:t>Interfaces fournies : interface web pour les trois rôles (JWT).   Interfaces requises : API du fournisseur LLM (facultative).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Calibri"/>
              </a:rPr>
              <a:t>VUE BUILDING 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Niveau 1 – White box : les blocs du système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Atelier 3 – Smart Project Manager – Vue building block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2468880" cy="1508760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Frontend</a:t>
            </a:r>
          </a:p>
          <a:p>
            <a:pPr algn="ctr"/>
            <a:r>
              <a:rPr sz="1900" b="0">
                <a:solidFill>
                  <a:srgbClr val="FFFFFF"/>
                </a:solidFill>
                <a:latin typeface="Calibri"/>
              </a:rPr>
              <a:t>Angular · TypeScript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011680"/>
            <a:ext cx="2468880" cy="1508760"/>
          </a:xfrm>
          <a:prstGeom prst="roundRect">
            <a:avLst>
              <a:gd name="adj" fmla="val 12000"/>
            </a:avLst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Backend</a:t>
            </a:r>
          </a:p>
          <a:p>
            <a:pPr algn="ctr"/>
            <a:r>
              <a:rPr sz="1900" b="0">
                <a:solidFill>
                  <a:srgbClr val="FFFFFF"/>
                </a:solidFill>
                <a:latin typeface="Calibri"/>
              </a:rPr>
              <a:t>Express.js · API 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325880"/>
            <a:ext cx="2468880" cy="1508760"/>
          </a:xfrm>
          <a:prstGeom prst="roundRect">
            <a:avLst>
              <a:gd name="adj" fmla="val 12000"/>
            </a:avLst>
          </a:prstGeom>
          <a:solidFill>
            <a:srgbClr val="0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Service IA</a:t>
            </a:r>
          </a:p>
          <a:p>
            <a:pPr algn="ctr"/>
            <a:r>
              <a:rPr sz="1900" b="0">
                <a:solidFill>
                  <a:srgbClr val="FFFFFF"/>
                </a:solidFill>
                <a:latin typeface="Calibri"/>
              </a:rPr>
              <a:t>FastAPI · 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383280"/>
            <a:ext cx="2468880" cy="150876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MongoDB</a:t>
            </a:r>
          </a:p>
          <a:p>
            <a:pPr algn="ctr"/>
            <a:r>
              <a:rPr sz="1900" b="0">
                <a:solidFill>
                  <a:srgbClr val="FFFFFF"/>
                </a:solidFill>
                <a:latin typeface="Calibri"/>
              </a:rPr>
              <a:t>Mongoose · 7 collections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1618488"/>
            <a:ext cx="1463040" cy="914400"/>
          </a:xfrm>
          <a:prstGeom prst="rect">
            <a:avLst/>
          </a:prstGeom>
          <a:solidFill>
            <a:srgbClr val="FDF0D5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1618488"/>
            <a:ext cx="146304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F1B3D"/>
                </a:solidFill>
                <a:latin typeface="Calibri"/>
              </a:rPr>
              <a:t>LLM</a:t>
            </a:r>
          </a:p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F1B3D"/>
                </a:solidFill>
                <a:latin typeface="Calibri"/>
              </a:rPr>
              <a:t>(externe)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35808" y="2743200"/>
            <a:ext cx="603504" cy="0"/>
          </a:xfrm>
          <a:prstGeom prst="line">
            <a:avLst/>
          </a:prstGeom>
          <a:ln w="25400">
            <a:solidFill>
              <a:srgbClr val="0F1B3D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43200" y="2834640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0E7F74"/>
                </a:solidFill>
                <a:latin typeface="Calibri"/>
              </a:rPr>
              <a:t>REST/JSON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144768" y="2103120"/>
            <a:ext cx="1152144" cy="365760"/>
          </a:xfrm>
          <a:prstGeom prst="line">
            <a:avLst/>
          </a:prstGeom>
          <a:ln w="25400">
            <a:solidFill>
              <a:srgbClr val="0F1B3D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44768" y="3108960"/>
            <a:ext cx="1152144" cy="1005840"/>
          </a:xfrm>
          <a:prstGeom prst="line">
            <a:avLst/>
          </a:prstGeom>
          <a:ln w="25400">
            <a:solidFill>
              <a:srgbClr val="0F1B3D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02368" y="2075688"/>
            <a:ext cx="603504" cy="0"/>
          </a:xfrm>
          <a:prstGeom prst="line">
            <a:avLst/>
          </a:prstGeom>
          <a:ln w="25400">
            <a:solidFill>
              <a:srgbClr val="F59E0B"/>
            </a:solidFill>
            <a:prstDash val="dash"/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1480" y="3703320"/>
            <a:ext cx="29260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0E7F74"/>
                </a:solidFill>
                <a:latin typeface="Calibri"/>
              </a:rPr>
              <a:t>JWT bearer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1371600"/>
            <a:ext cx="12801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0E7F74"/>
                </a:solidFill>
                <a:latin typeface="Calibri"/>
              </a:rPr>
              <a:t>REST + jeton de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4048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0E7F74"/>
                </a:solidFill>
                <a:latin typeface="Calibri"/>
              </a:rPr>
              <a:t>Mongoose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7492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Règles de dépendance :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1. Le frontend ne parle qu'au backend.   2. Seul le backend lit et écrit dans MongoDB.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3. Le service IA est sans état, jamais exposé au navigateur et n'accède pas à la base.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Calibri"/>
              </a:rPr>
              <a:t>ÉTAPE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Interfaces entre les blocs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Atelier 3 – Smart Project Manager – Vue building block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2697480" cy="4572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Interface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25880"/>
            <a:ext cx="1965960" cy="4572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Fournie par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325880"/>
            <a:ext cx="2148840" cy="4572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Requise par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1325880"/>
            <a:ext cx="4069080" cy="4572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Contrat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2697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874519"/>
            <a:ext cx="260604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0F1B3D"/>
                </a:solidFill>
                <a:latin typeface="Calibri"/>
              </a:rPr>
              <a:t>API REST publique /api/v1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874519"/>
            <a:ext cx="1965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874519"/>
            <a:ext cx="187452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Backend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1874519"/>
            <a:ext cx="2148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1874519"/>
            <a:ext cx="205740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Frontend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0" y="1874519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1874519"/>
            <a:ext cx="3977639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JSON, JWT en en-tête Bearer, rôles ADMIN / PROJECT_MANAGER / DEVELOPER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97479"/>
            <a:ext cx="2697480" cy="749808"/>
          </a:xfrm>
          <a:prstGeom prst="rect">
            <a:avLst/>
          </a:prstGeom>
          <a:solidFill>
            <a:srgbClr val="E3E8F3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697479"/>
            <a:ext cx="260604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0F1B3D"/>
                </a:solidFill>
                <a:latin typeface="Calibri"/>
              </a:rPr>
              <a:t>Persistance (modèles Mongoose)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2697479"/>
            <a:ext cx="1965960" cy="749808"/>
          </a:xfrm>
          <a:prstGeom prst="rect">
            <a:avLst/>
          </a:prstGeom>
          <a:solidFill>
            <a:srgbClr val="E3E8F3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697479"/>
            <a:ext cx="187452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MongoDB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2697479"/>
            <a:ext cx="2148840" cy="749808"/>
          </a:xfrm>
          <a:prstGeom prst="rect">
            <a:avLst/>
          </a:prstGeom>
          <a:solidFill>
            <a:srgbClr val="E3E8F3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2697479"/>
            <a:ext cx="205740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Backend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2697479"/>
            <a:ext cx="4069080" cy="749808"/>
          </a:xfrm>
          <a:prstGeom prst="rect">
            <a:avLst/>
          </a:prstGeom>
          <a:solidFill>
            <a:srgbClr val="E3E8F3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2697479"/>
            <a:ext cx="3977639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7 collections : users, projects, sprints, tasks, comments, activities, notifications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520439"/>
            <a:ext cx="2697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520439"/>
            <a:ext cx="260604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0F1B3D"/>
                </a:solidFill>
                <a:latin typeface="Calibri"/>
              </a:rPr>
              <a:t>API IA /api/v1/ai/*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3520439"/>
            <a:ext cx="1965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3520439"/>
            <a:ext cx="187452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Service 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3520439"/>
            <a:ext cx="2148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3520439"/>
            <a:ext cx="205740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Backend (AiClient)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0" y="3520439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43800" y="3520439"/>
            <a:ext cx="3977639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plan, recommandation, risque, assistant, extraction ; jeton de service ; délai limité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343400"/>
            <a:ext cx="2697480" cy="749808"/>
          </a:xfrm>
          <a:prstGeom prst="rect">
            <a:avLst/>
          </a:prstGeom>
          <a:solidFill>
            <a:srgbClr val="E3E8F3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343400"/>
            <a:ext cx="260604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0F1B3D"/>
                </a:solidFill>
                <a:latin typeface="Calibri"/>
              </a:rPr>
              <a:t>Contrôle d'état /api/v1/health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4343400"/>
            <a:ext cx="1965960" cy="749808"/>
          </a:xfrm>
          <a:prstGeom prst="rect">
            <a:avLst/>
          </a:prstGeom>
          <a:solidFill>
            <a:srgbClr val="E3E8F3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37560" y="4343400"/>
            <a:ext cx="187452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Backend, Service 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0" y="4343400"/>
            <a:ext cx="2148840" cy="749808"/>
          </a:xfrm>
          <a:prstGeom prst="rect">
            <a:avLst/>
          </a:prstGeom>
          <a:solidFill>
            <a:srgbClr val="E3E8F3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49240" y="4343400"/>
            <a:ext cx="205740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Frontend, Backend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0" y="4343400"/>
            <a:ext cx="4069080" cy="749808"/>
          </a:xfrm>
          <a:prstGeom prst="rect">
            <a:avLst/>
          </a:prstGeom>
          <a:solidFill>
            <a:srgbClr val="E3E8F3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43800" y="4343400"/>
            <a:ext cx="3977639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Statut de chaque bloc affiché sur la page d'accueil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166360"/>
            <a:ext cx="2697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166360"/>
            <a:ext cx="260604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0F1B3D"/>
                </a:solidFill>
                <a:latin typeface="Calibri"/>
              </a:rPr>
              <a:t>API LLM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840" y="5166360"/>
            <a:ext cx="1965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37560" y="5166360"/>
            <a:ext cx="187452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Fournisseur OpenAI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0" y="5166360"/>
            <a:ext cx="2148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49240" y="5166360"/>
            <a:ext cx="205740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Service IA (OpenAiClient)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80" y="516636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43800" y="5166360"/>
            <a:ext cx="3977639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Facultative : repli sur l'analyseur local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1">
                <a:solidFill>
                  <a:srgbClr val="0E7F74"/>
                </a:solidFill>
                <a:latin typeface="Calibri"/>
              </a:rPr>
              <a:t>Le backend est la seule passerelle : il valide chaque réponse de l'IA avant de la persister ou de la retourner.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Calibri"/>
              </a:rPr>
              <a:t>WHITE BOX DU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Niveau 2 – Packages du backend et dépendances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Atelier 3 – Smart Project Manager – Vue building block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325880"/>
            <a:ext cx="3108960" cy="86868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Insight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Dashboard · 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1325880"/>
            <a:ext cx="3108960" cy="86868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Collaboration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Comments · Activity · Notifications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325880"/>
            <a:ext cx="3108960" cy="868680"/>
          </a:xfrm>
          <a:prstGeom prst="rect">
            <a:avLst/>
          </a:prstGeom>
          <a:solidFill>
            <a:srgbClr val="0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AI Gateway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AiPlan · AiRecommendation · AiRisk · AiAssistant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2743200"/>
            <a:ext cx="3108960" cy="86868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Tasks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Tâches · Kanban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743200"/>
            <a:ext cx="3108960" cy="86868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Sprints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Sprints · Statistiques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4069080"/>
            <a:ext cx="3108960" cy="86868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Projects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Projets · Équipes · Contrôle d'accès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5303520"/>
            <a:ext cx="3108960" cy="86868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Identity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Auth · Users · Profile · Token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28800" y="2194560"/>
            <a:ext cx="1920239" cy="548640"/>
          </a:xfrm>
          <a:prstGeom prst="line">
            <a:avLst/>
          </a:prstGeom>
          <a:ln w="22225">
            <a:solidFill>
              <a:srgbClr val="0F1B3D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926080" y="2194560"/>
            <a:ext cx="4571999" cy="548640"/>
          </a:xfrm>
          <a:prstGeom prst="line">
            <a:avLst/>
          </a:prstGeom>
          <a:ln w="22225">
            <a:solidFill>
              <a:srgbClr val="0F1B3D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572000" y="2194560"/>
            <a:ext cx="960120" cy="548640"/>
          </a:xfrm>
          <a:prstGeom prst="line">
            <a:avLst/>
          </a:prstGeom>
          <a:ln w="22225">
            <a:solidFill>
              <a:srgbClr val="0F1B3D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412480" y="2194560"/>
            <a:ext cx="822960" cy="548640"/>
          </a:xfrm>
          <a:prstGeom prst="line">
            <a:avLst/>
          </a:prstGeom>
          <a:ln w="22225">
            <a:solidFill>
              <a:srgbClr val="0F1B3D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029200" y="2194560"/>
            <a:ext cx="3840480" cy="548640"/>
          </a:xfrm>
          <a:prstGeom prst="line">
            <a:avLst/>
          </a:prstGeom>
          <a:ln w="22225">
            <a:solidFill>
              <a:srgbClr val="0F1B3D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06240" y="3611880"/>
            <a:ext cx="1234440" cy="457200"/>
          </a:xfrm>
          <a:prstGeom prst="line">
            <a:avLst/>
          </a:prstGeom>
          <a:ln w="22225">
            <a:solidFill>
              <a:srgbClr val="0F1B3D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720840" y="3611880"/>
            <a:ext cx="1234439" cy="457200"/>
          </a:xfrm>
          <a:prstGeom prst="line">
            <a:avLst/>
          </a:prstGeom>
          <a:ln w="22225">
            <a:solidFill>
              <a:srgbClr val="0F1B3D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80760" y="4937760"/>
            <a:ext cx="0" cy="365760"/>
          </a:xfrm>
          <a:prstGeom prst="line">
            <a:avLst/>
          </a:prstGeom>
          <a:ln w="22225">
            <a:solidFill>
              <a:srgbClr val="0F1B3D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48640" y="2743200"/>
            <a:ext cx="18288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788920"/>
            <a:ext cx="1645920" cy="3291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>Lecture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>Flèche pointillée = « dépend de ».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>Les dépendances vont toujours vers le bas : aucun cycle.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>Collaboration écoute les événements d'activité (observateur).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069080"/>
            <a:ext cx="3383280" cy="2103120"/>
          </a:xfrm>
          <a:prstGeom prst="rect">
            <a:avLst/>
          </a:prstGeom>
          <a:solidFill>
            <a:srgbClr val="DD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4114800"/>
            <a:ext cx="310896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0F1B3D"/>
                </a:solidFill>
                <a:latin typeface="Calibri"/>
              </a:rPr>
              <a:t>Pourquoi cette découpe ?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0F1B3D"/>
                </a:solidFill>
                <a:latin typeface="Calibri"/>
              </a:rPr>
              <a:t>Chaque package correspond à un ou deux modules fonctionnels.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0F1B3D"/>
                </a:solidFill>
                <a:latin typeface="Calibri"/>
              </a:rPr>
              <a:t>Identity et Projects portent le contrôle d'accès, réutilisé par tous les autres.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0F1B3D"/>
                </a:solidFill>
                <a:latin typeface="Calibri"/>
              </a:rPr>
              <a:t>Un changement dans Insight ou AI n'impacte pas le cœur métier.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Calibri"/>
              </a:rPr>
              <a:t>RAFFINEMENT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White box du backend – architecture en couches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Atelier 3 – Smart Project Manager – Vue building block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2194560" cy="713232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routes/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371600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1371600"/>
            <a:ext cx="49377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Déclare les points d'entrée REST, enchaîne les middlewares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45920" y="2084832"/>
            <a:ext cx="0" cy="201168"/>
          </a:xfrm>
          <a:prstGeom prst="line">
            <a:avLst/>
          </a:prstGeom>
          <a:ln w="25400">
            <a:solidFill>
              <a:srgbClr val="14B8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48640" y="2286000"/>
            <a:ext cx="2194560" cy="713232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middleware/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286000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2928" y="2286000"/>
            <a:ext cx="49377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authenticate · authorize · validate · upload · errorHandler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45920" y="2999232"/>
            <a:ext cx="0" cy="201168"/>
          </a:xfrm>
          <a:prstGeom prst="line">
            <a:avLst/>
          </a:prstGeom>
          <a:ln w="25400">
            <a:solidFill>
              <a:srgbClr val="14B8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48640" y="3200400"/>
            <a:ext cx="2194560" cy="713232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controllers/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3200400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2928" y="3200400"/>
            <a:ext cx="49377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Traduit HTTP ↔ appels de services (12 contrôleurs)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45920" y="3913632"/>
            <a:ext cx="0" cy="201168"/>
          </a:xfrm>
          <a:prstGeom prst="line">
            <a:avLst/>
          </a:prstGeom>
          <a:ln w="25400">
            <a:solidFill>
              <a:srgbClr val="14B8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48640" y="4114800"/>
            <a:ext cx="2194560" cy="713232"/>
          </a:xfrm>
          <a:prstGeom prst="rect">
            <a:avLst/>
          </a:prstGeom>
          <a:solidFill>
            <a:srgbClr val="0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services/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4114800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52928" y="4114800"/>
            <a:ext cx="49377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Règles métier, droits, orchestration, appels IA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645920" y="4828032"/>
            <a:ext cx="0" cy="201168"/>
          </a:xfrm>
          <a:prstGeom prst="line">
            <a:avLst/>
          </a:prstGeom>
          <a:ln w="25400">
            <a:solidFill>
              <a:srgbClr val="14B8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48640" y="5029200"/>
            <a:ext cx="2194560" cy="713232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models/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5029200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2928" y="5029200"/>
            <a:ext cx="49377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Schémas Mongoose : User, Project, Sprint, Task, Comment, Activity, Notification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371600"/>
            <a:ext cx="3383280" cy="1417320"/>
          </a:xfrm>
          <a:prstGeom prst="rect">
            <a:avLst/>
          </a:prstGeom>
          <a:solidFill>
            <a:srgbClr val="E3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1417320"/>
            <a:ext cx="3108960" cy="1325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200" b="0" i="0">
                <a:solidFill>
                  <a:srgbClr val="0F1B3D"/>
                </a:solidFill>
                <a:latin typeface="Calibri"/>
              </a:rPr>
              <a:t>Transversal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0F1B3D"/>
                </a:solidFill>
                <a:latin typeface="Calibri"/>
              </a:rPr>
              <a:t>validators/ : validation des entrées par module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0F1B3D"/>
                </a:solidFill>
                <a:latin typeface="Calibri"/>
              </a:rPr>
              <a:t>utils/ : ApiError, logger, pagination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0F1B3D"/>
                </a:solidFill>
                <a:latin typeface="Calibri"/>
              </a:rPr>
              <a:t>config/ : env, database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971800"/>
            <a:ext cx="3383280" cy="2788920"/>
          </a:xfrm>
          <a:prstGeom prst="rect">
            <a:avLst/>
          </a:prstGeom>
          <a:solidFill>
            <a:srgbClr val="DD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3017520"/>
            <a:ext cx="3108960" cy="2697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0F1B3D"/>
                </a:solidFill>
                <a:latin typeface="Calibri"/>
              </a:rPr>
              <a:t>Règles de la white box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0F1B3D"/>
                </a:solidFill>
                <a:latin typeface="Calibri"/>
              </a:rPr>
              <a:t>Un contrôleur n'accède jamais à un modèle directement.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0F1B3D"/>
                </a:solidFill>
                <a:latin typeface="Calibri"/>
              </a:rPr>
              <a:t>Les règles métier vivent uniquement dans les services.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0F1B3D"/>
                </a:solidFill>
                <a:latin typeface="Calibri"/>
              </a:rPr>
              <a:t>Les modèles ne connaissent pas les services.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0F1B3D"/>
                </a:solidFill>
                <a:latin typeface="Calibri"/>
              </a:rPr>
              <a:t>Les erreurs passent par ApiError puis errorHandler.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Calibri"/>
              </a:rPr>
              <a:t>ÉTAPE 4 · MÉTHODES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Classes – Identity et 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Atelier 3 – Smart Project Manager – Vue building block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566160" cy="1348740"/>
          </a:xfrm>
          <a:prstGeom prst="rect">
            <a:avLst/>
          </a:prstGeom>
          <a:solidFill>
            <a:srgbClr val="FFFFFF"/>
          </a:solidFill>
          <a:ln w="1587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3566160" cy="566928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14B8A6"/>
                </a:solidFill>
                <a:latin typeface="Calibri"/>
              </a:rPr>
              <a:t>&lt;&lt;service&gt;&gt;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AuthService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83664"/>
            <a:ext cx="3474720" cy="7818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register(data)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login(email, password)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buildAuthResponse(user)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71800"/>
            <a:ext cx="3566160" cy="1124712"/>
          </a:xfrm>
          <a:prstGeom prst="rect">
            <a:avLst/>
          </a:prstGeom>
          <a:solidFill>
            <a:srgbClr val="FFFFFF"/>
          </a:solidFill>
          <a:ln w="1587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971800"/>
            <a:ext cx="3566160" cy="566928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14B8A6"/>
                </a:solidFill>
                <a:latin typeface="Calibri"/>
              </a:rPr>
              <a:t>&lt;&lt;service&gt;&gt;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TokenService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75304"/>
            <a:ext cx="3474720" cy="5577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signAccessToken(user)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verifyAccessToken(token)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566160" cy="1796796"/>
          </a:xfrm>
          <a:prstGeom prst="rect">
            <a:avLst/>
          </a:prstGeom>
          <a:solidFill>
            <a:srgbClr val="FFFFFF"/>
          </a:solidFill>
          <a:ln w="1587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3566160" cy="566928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14B8A6"/>
                </a:solidFill>
                <a:latin typeface="Calibri"/>
              </a:rPr>
              <a:t>&lt;&lt;service&gt;&gt;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UserService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883664"/>
            <a:ext cx="3474720" cy="12298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listUsers(filters)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listDevelopers(filters)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getUserById(id)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updateUserStatus(id, active)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updateUserRole(id, role)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749039"/>
            <a:ext cx="3566160" cy="1348740"/>
          </a:xfrm>
          <a:prstGeom prst="rect">
            <a:avLst/>
          </a:prstGeom>
          <a:solidFill>
            <a:srgbClr val="FFFFFF"/>
          </a:solidFill>
          <a:ln w="1587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749039"/>
            <a:ext cx="3566160" cy="566928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14B8A6"/>
                </a:solidFill>
                <a:latin typeface="Calibri"/>
              </a:rPr>
              <a:t>&lt;&lt;service&gt;&gt;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ProfileService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352544"/>
            <a:ext cx="3474720" cy="7818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updateProfile(user, data)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changePassword(user, data)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replaceSkills(user, skills)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280160"/>
            <a:ext cx="3566160" cy="2244852"/>
          </a:xfrm>
          <a:prstGeom prst="rect">
            <a:avLst/>
          </a:prstGeom>
          <a:solidFill>
            <a:srgbClr val="FFFFFF"/>
          </a:solidFill>
          <a:ln w="1587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280160"/>
            <a:ext cx="3566160" cy="566928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14B8A6"/>
                </a:solidFill>
                <a:latin typeface="Calibri"/>
              </a:rPr>
              <a:t>&lt;&lt;service&gt;&gt;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ProjectService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1883664"/>
            <a:ext cx="3474720" cy="167792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createProject(manager, data)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listProjects(user, filters)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getProject(user, id)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updateProject(user, id, data)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deleteProject(user, id)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addMember(user, id, userId)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removeMember(user, id, userId)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3931920"/>
            <a:ext cx="3566160" cy="1572768"/>
          </a:xfrm>
          <a:prstGeom prst="rect">
            <a:avLst/>
          </a:prstGeom>
          <a:solidFill>
            <a:srgbClr val="FFFFFF"/>
          </a:solidFill>
          <a:ln w="15875">
            <a:solidFill>
              <a:srgbClr val="0E7F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3931920"/>
            <a:ext cx="3566160" cy="566928"/>
          </a:xfrm>
          <a:prstGeom prst="rect">
            <a:avLst/>
          </a:prstGeom>
          <a:solidFill>
            <a:srgbClr val="0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&lt;&lt;interface fournie&gt;&gt;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ProjectAccessService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535424"/>
            <a:ext cx="347472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canViewProject(user, project)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assertManager(user, project)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assertNotArchived(project)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findManagedProject(user, id)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2331720" y="2560320"/>
            <a:ext cx="0" cy="393192"/>
          </a:xfrm>
          <a:prstGeom prst="line">
            <a:avLst/>
          </a:prstGeom>
          <a:ln w="19050">
            <a:solidFill>
              <a:srgbClr val="0F1B3D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829800" y="3566160"/>
            <a:ext cx="0" cy="347472"/>
          </a:xfrm>
          <a:prstGeom prst="line">
            <a:avLst/>
          </a:prstGeom>
          <a:ln w="22225">
            <a:solidFill>
              <a:srgbClr val="0E7F7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5029200"/>
            <a:ext cx="3566160" cy="1188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1">
                <a:solidFill>
                  <a:srgbClr val="0E7F74"/>
                </a:solidFill>
                <a:latin typeface="Calibri"/>
              </a:rPr>
              <a:t>AuthService utilise TokenService ; ProjectService s'appuie sur ProjectAccessService, que tous les autres packages réutilisent.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Calibri"/>
              </a:rPr>
              <a:t>ÉTAPE 4 · MÉTHODES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Classes – Sprints et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Atelier 3 – Smart Project Manager – Vue building block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383280" cy="1572768"/>
          </a:xfrm>
          <a:prstGeom prst="rect">
            <a:avLst/>
          </a:prstGeom>
          <a:solidFill>
            <a:srgbClr val="FFFFFF"/>
          </a:solidFill>
          <a:ln w="1587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3383280" cy="566928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14B8A6"/>
                </a:solidFill>
                <a:latin typeface="Calibri"/>
              </a:rPr>
              <a:t>&lt;&lt;model&gt;&gt;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83664"/>
            <a:ext cx="329184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nsolas"/>
              </a:rPr>
              <a:t>- name, objective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nsolas"/>
              </a:rPr>
              <a:t>- project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nsolas"/>
              </a:rPr>
              <a:t>- startDate, endDate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nsolas"/>
              </a:rPr>
              <a:t>- status, completedAt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852928"/>
            <a:ext cx="3383280" cy="0"/>
          </a:xfrm>
          <a:prstGeom prst="line">
            <a:avLst/>
          </a:prstGeom>
          <a:ln w="9525">
            <a:solidFill>
              <a:srgbClr val="0F1B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48640" y="3246120"/>
            <a:ext cx="3383280" cy="1796796"/>
          </a:xfrm>
          <a:prstGeom prst="rect">
            <a:avLst/>
          </a:prstGeom>
          <a:solidFill>
            <a:srgbClr val="FFFFFF"/>
          </a:solidFill>
          <a:ln w="1587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3383280" cy="566928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14B8A6"/>
                </a:solidFill>
                <a:latin typeface="Calibri"/>
              </a:rPr>
              <a:t>&lt;&lt;service&gt;&gt;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SprintService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49624"/>
            <a:ext cx="3291840" cy="12298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createSprint(user, data)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updateSprint(user, id, data)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changeSprintStatus(user, id, status)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computeSprintStats(sprint)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deleteSprint(user, id)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3657600" cy="1796796"/>
          </a:xfrm>
          <a:prstGeom prst="rect">
            <a:avLst/>
          </a:prstGeom>
          <a:solidFill>
            <a:srgbClr val="FFFFFF"/>
          </a:solidFill>
          <a:ln w="1587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280160"/>
            <a:ext cx="3657600" cy="566928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14B8A6"/>
                </a:solidFill>
                <a:latin typeface="Calibri"/>
              </a:rPr>
              <a:t>&lt;&lt;model&gt;&gt;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883664"/>
            <a:ext cx="3566160" cy="12298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nsolas"/>
              </a:rPr>
              <a:t>- title, description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nsolas"/>
              </a:rPr>
              <a:t>- type, priority, complexity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nsolas"/>
              </a:rPr>
              <a:t>- status, blockedReason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nsolas"/>
              </a:rPr>
              <a:t>- deadline, requiredSkills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nsolas"/>
              </a:rPr>
              <a:t>- project, sprint, assignee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97680" y="3076956"/>
            <a:ext cx="3657599" cy="0"/>
          </a:xfrm>
          <a:prstGeom prst="line">
            <a:avLst/>
          </a:prstGeom>
          <a:ln w="9525">
            <a:solidFill>
              <a:srgbClr val="0F1B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297680" y="3474720"/>
            <a:ext cx="3657600" cy="2244852"/>
          </a:xfrm>
          <a:prstGeom prst="rect">
            <a:avLst/>
          </a:prstGeom>
          <a:solidFill>
            <a:srgbClr val="FFFFFF"/>
          </a:solidFill>
          <a:ln w="1587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3474720"/>
            <a:ext cx="3657600" cy="566928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14B8A6"/>
                </a:solidFill>
                <a:latin typeface="Calibri"/>
              </a:rPr>
              <a:t>&lt;&lt;service&gt;&gt;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TaskService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078224"/>
            <a:ext cx="3566160" cy="167792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createTask(user, data)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updateTask(user, id, data)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changeTaskStatus(user, id, status)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assignTask(user, id, userId)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listTasks(user, filters)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getBoard(user, projectId)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listMyTasks(user)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1280160"/>
            <a:ext cx="3291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03919" y="1463039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34272" y="1417319"/>
            <a:ext cx="24231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F1B3D"/>
                </a:solidFill>
                <a:latin typeface="Calibri"/>
              </a:rPr>
              <a:t>Workflow d'une tâche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2029967"/>
            <a:ext cx="292608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TODO → IN_PROGRESS → CODE_REVIEW → TESTING → DONE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BLOCKED : état supplémentaire avec motif obligatoire.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3931920"/>
            <a:ext cx="3291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03919" y="411480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34272" y="4069080"/>
            <a:ext cx="24231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F1B3D"/>
                </a:solidFill>
                <a:latin typeface="Calibri"/>
              </a:rPr>
              <a:t>Dépendances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4681728"/>
            <a:ext cx="29260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TaskService → SprintService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TaskService, SprintService → ProjectAccessService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Chaque changement alimente ActivityService.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2240280" y="3017520"/>
            <a:ext cx="0" cy="182880"/>
          </a:xfrm>
          <a:prstGeom prst="line">
            <a:avLst/>
          </a:prstGeom>
          <a:ln w="19050">
            <a:solidFill>
              <a:srgbClr val="0F1B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126480" y="3200400"/>
            <a:ext cx="0" cy="228600"/>
          </a:xfrm>
          <a:prstGeom prst="line">
            <a:avLst/>
          </a:prstGeom>
          <a:ln w="19050">
            <a:solidFill>
              <a:srgbClr val="0F1B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Calibri"/>
              </a:rPr>
              <a:t>ÉTAPE 4 · MÉTHODES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Classes – Collaboration et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Atelier 3 – Smart Project Manager – Vue building block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566160" cy="1572768"/>
          </a:xfrm>
          <a:prstGeom prst="rect">
            <a:avLst/>
          </a:prstGeom>
          <a:solidFill>
            <a:srgbClr val="FFFFFF"/>
          </a:solidFill>
          <a:ln w="1587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3566160" cy="566928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14B8A6"/>
                </a:solidFill>
                <a:latin typeface="Calibri"/>
              </a:rPr>
              <a:t>&lt;&lt;service&gt;&gt;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CommentService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83664"/>
            <a:ext cx="347472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listComments(user, taskId)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addComment(user, taskId, content)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updateComment(user, id, content)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deleteComment(user, id)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566160" cy="1572768"/>
          </a:xfrm>
          <a:prstGeom prst="rect">
            <a:avLst/>
          </a:prstGeom>
          <a:solidFill>
            <a:srgbClr val="FFFFFF"/>
          </a:solidFill>
          <a:ln w="15875">
            <a:solidFill>
              <a:srgbClr val="0E7F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566160" cy="566928"/>
          </a:xfrm>
          <a:prstGeom prst="rect">
            <a:avLst/>
          </a:prstGeom>
          <a:solidFill>
            <a:srgbClr val="0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&lt;&lt;service&gt;&gt;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ActivityService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883664"/>
            <a:ext cx="347472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record(event)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onActivity(listener)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listProjectActivities(user, id)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changedFields(before, after)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280160"/>
            <a:ext cx="3566160" cy="2244852"/>
          </a:xfrm>
          <a:prstGeom prst="rect">
            <a:avLst/>
          </a:prstGeom>
          <a:solidFill>
            <a:srgbClr val="FFFFFF"/>
          </a:solidFill>
          <a:ln w="1587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280160"/>
            <a:ext cx="3566160" cy="566928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14B8A6"/>
                </a:solidFill>
                <a:latin typeface="Calibri"/>
              </a:rPr>
              <a:t>&lt;&lt;service&gt;&gt;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NotificationService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1883664"/>
            <a:ext cx="3474720" cy="167792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registerActivityListener()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buildNotifications(activity)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notifyFromActivity(activity)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listNotifications(user)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markAsRead(user, id)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markAllAsRead(user)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countUnread(user)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63840" y="1920240"/>
            <a:ext cx="164591" cy="0"/>
          </a:xfrm>
          <a:prstGeom prst="line">
            <a:avLst/>
          </a:prstGeom>
          <a:ln w="25400">
            <a:solidFill>
              <a:srgbClr val="0E7F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3840480"/>
            <a:ext cx="3566160" cy="1796796"/>
          </a:xfrm>
          <a:prstGeom prst="rect">
            <a:avLst/>
          </a:prstGeom>
          <a:solidFill>
            <a:srgbClr val="FFFFFF"/>
          </a:solidFill>
          <a:ln w="1587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3566160" cy="566928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14B8A6"/>
                </a:solidFill>
                <a:latin typeface="Calibri"/>
              </a:rPr>
              <a:t>&lt;&lt;service&gt;&gt;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DashboardService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443984"/>
            <a:ext cx="3474720" cy="12298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getDashboard(user)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getProjectDashboard(user, id)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taskIndicators(filter)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workload(projectId)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activeSprints(user)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840480"/>
            <a:ext cx="3566160" cy="900684"/>
          </a:xfrm>
          <a:prstGeom prst="rect">
            <a:avLst/>
          </a:prstGeom>
          <a:solidFill>
            <a:srgbClr val="FFFFFF"/>
          </a:solidFill>
          <a:ln w="1587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840480"/>
            <a:ext cx="3566160" cy="566928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14B8A6"/>
                </a:solidFill>
                <a:latin typeface="Calibri"/>
              </a:rPr>
              <a:t>&lt;&lt;service&gt;&gt;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SearchService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443984"/>
            <a:ext cx="3474720" cy="3337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search(user, query)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3840480"/>
            <a:ext cx="3566160" cy="2331720"/>
          </a:xfrm>
          <a:prstGeom prst="rect">
            <a:avLst/>
          </a:prstGeom>
          <a:solidFill>
            <a:srgbClr val="DD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3886200"/>
            <a:ext cx="3291840" cy="2240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0F1B3D"/>
                </a:solidFill>
                <a:latin typeface="Calibri"/>
              </a:rPr>
              <a:t>Patron observateur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0F1B3D"/>
                </a:solidFill>
                <a:latin typeface="Calibri"/>
              </a:rPr>
              <a:t>ActivityService publie un événement à chaque action ; NotificationService s'y abonne.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0F1B3D"/>
                </a:solidFill>
                <a:latin typeface="Calibri"/>
              </a:rPr>
              <a:t>Le couplage reste faible : ajouter un type de notification ne modifie pas les modules métier.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Calibri"/>
              </a:rPr>
              <a:t>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Package AI Gateway – le backend appelle l'IA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Atelier 3 – Smart Project Manager – Vue building block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566160" cy="1124712"/>
          </a:xfrm>
          <a:prstGeom prst="rect">
            <a:avLst/>
          </a:prstGeom>
          <a:solidFill>
            <a:srgbClr val="FFFFFF"/>
          </a:solidFill>
          <a:ln w="15875">
            <a:solidFill>
              <a:srgbClr val="0E7F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3566160" cy="566928"/>
          </a:xfrm>
          <a:prstGeom prst="rect">
            <a:avLst/>
          </a:prstGeom>
          <a:solidFill>
            <a:srgbClr val="0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&lt;&lt;interface requise&gt;&gt;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AiClientService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83664"/>
            <a:ext cx="3474720" cy="5577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request(path, body)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getStatus()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3566160" cy="1572768"/>
          </a:xfrm>
          <a:prstGeom prst="rect">
            <a:avLst/>
          </a:prstGeom>
          <a:solidFill>
            <a:srgbClr val="FFFFFF"/>
          </a:solidFill>
          <a:ln w="1587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788920"/>
            <a:ext cx="3566160" cy="566928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14B8A6"/>
                </a:solidFill>
                <a:latin typeface="Calibri"/>
              </a:rPr>
              <a:t>&lt;&lt;service&gt;&gt;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AiAssistantService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92424"/>
            <a:ext cx="347472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chat(user, project, messages)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runTool(name, args)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executeAction(user, action)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assertAssistantAvailable()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566160" cy="1572768"/>
          </a:xfrm>
          <a:prstGeom prst="rect">
            <a:avLst/>
          </a:prstGeom>
          <a:solidFill>
            <a:srgbClr val="FFFFFF"/>
          </a:solidFill>
          <a:ln w="1587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3566160" cy="566928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14B8A6"/>
                </a:solidFill>
                <a:latin typeface="Calibri"/>
              </a:rPr>
              <a:t>&lt;&lt;service&gt;&gt;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AiPlanService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883664"/>
            <a:ext cx="347472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generatePlan(user, project, spec)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extractDocument(file)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parseAiPlan(raw)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applyPlan(user, project, plan)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246120"/>
            <a:ext cx="3566160" cy="1348740"/>
          </a:xfrm>
          <a:prstGeom prst="rect">
            <a:avLst/>
          </a:prstGeom>
          <a:solidFill>
            <a:srgbClr val="FFFFFF"/>
          </a:solidFill>
          <a:ln w="1587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246120"/>
            <a:ext cx="3566160" cy="566928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14B8A6"/>
                </a:solidFill>
                <a:latin typeface="Calibri"/>
              </a:rPr>
              <a:t>&lt;&lt;service&gt;&gt;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AiRecommendationService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849624"/>
            <a:ext cx="3474720" cy="7818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recommendDevelopers(user, taskId)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workloads(project)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experiences(project)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4892040"/>
            <a:ext cx="3566160" cy="1124712"/>
          </a:xfrm>
          <a:prstGeom prst="rect">
            <a:avLst/>
          </a:prstGeom>
          <a:solidFill>
            <a:srgbClr val="FFFFFF"/>
          </a:solidFill>
          <a:ln w="1587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4892040"/>
            <a:ext cx="3566160" cy="566928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14B8A6"/>
                </a:solidFill>
                <a:latin typeface="Calibri"/>
              </a:rPr>
              <a:t>&lt;&lt;service&gt;&gt;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AiRiskService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5495544"/>
            <a:ext cx="3474720" cy="5577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predictSprintRisk(user, sprintId)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F1B3D"/>
                </a:solidFill>
                <a:latin typeface="Consolas"/>
              </a:rPr>
              <a:t>+ historicalVelocity(project)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356616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1">
                <a:solidFill>
                  <a:srgbClr val="0E7F74"/>
                </a:solidFill>
                <a:latin typeface="Calibri"/>
              </a:rPr>
              <a:t>Tous les services IA dépendent de AiClientService, l'unique point de sortie vers le service IA.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280160"/>
            <a:ext cx="3474720" cy="4892040"/>
          </a:xfrm>
          <a:prstGeom prst="rect">
            <a:avLst/>
          </a:prstGeom>
          <a:solidFill>
            <a:srgbClr val="DD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1325880"/>
            <a:ext cx="3200400" cy="4800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0F1B3D"/>
                </a:solidFill>
                <a:latin typeface="Calibri"/>
              </a:rPr>
              <a:t>Rôle de la passerelle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0F1B3D"/>
                </a:solidFill>
                <a:latin typeface="Calibri"/>
              </a:rPr>
              <a:t>Collecte les données dans MongoDB, les envoie au service IA, puis valide la réponse.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0F1B3D"/>
                </a:solidFill>
                <a:latin typeface="Calibri"/>
              </a:rPr>
              <a:t>Toute proposition (plan, action de l'assistant) est confirmée par le chef de projet avant écriture.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0F1B3D"/>
                </a:solidFill>
                <a:latin typeface="Calibri"/>
              </a:rPr>
              <a:t>Si l'IA est indisponible, le reste de la plateforme continue de fonctionner.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Calibri"/>
              </a:rPr>
              <a:t>RAFFINEMENT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White box du service IA (FastAPI)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Atelier 3 – Smart Project Manager – Vue building block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routes/   planning · recommendation · risk · assistant · health   (jeton de service requis)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1938528"/>
            <a:ext cx="0" cy="301752"/>
          </a:xfrm>
          <a:prstGeom prst="line">
            <a:avLst/>
          </a:prstGeom>
          <a:ln w="25400">
            <a:solidFill>
              <a:srgbClr val="14B8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640" y="2286000"/>
            <a:ext cx="265176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7F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04288"/>
            <a:ext cx="2468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B3D"/>
                </a:solidFill>
                <a:latin typeface="Calibri"/>
              </a:rPr>
              <a:t>planning_service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0E7F74"/>
                </a:solidFill>
                <a:latin typeface="Consolas"/>
              </a:rPr>
              <a:t>build_plan(request, llm, settings)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246888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requirement_parser, sprint_planner, task_enricher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17720" y="1938528"/>
            <a:ext cx="0" cy="301752"/>
          </a:xfrm>
          <a:prstGeom prst="line">
            <a:avLst/>
          </a:prstGeom>
          <a:ln w="25400">
            <a:solidFill>
              <a:srgbClr val="14B8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337560" y="2286000"/>
            <a:ext cx="265176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7F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304288"/>
            <a:ext cx="2468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B3D"/>
                </a:solidFill>
                <a:latin typeface="Calibri"/>
              </a:rPr>
              <a:t>developer_scoring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651760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0E7F74"/>
                </a:solidFill>
                <a:latin typeface="Consolas"/>
              </a:rPr>
              <a:t>recommend(request)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108960"/>
            <a:ext cx="246888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score_candidate, target_skills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06640" y="1938528"/>
            <a:ext cx="0" cy="301752"/>
          </a:xfrm>
          <a:prstGeom prst="line">
            <a:avLst/>
          </a:prstGeom>
          <a:ln w="25400">
            <a:solidFill>
              <a:srgbClr val="14B8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26479" y="2286000"/>
            <a:ext cx="265176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7F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19" y="2304288"/>
            <a:ext cx="2468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B3D"/>
                </a:solidFill>
                <a:latin typeface="Calibri"/>
              </a:rPr>
              <a:t>sprint_risk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19" y="2651760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0E7F74"/>
                </a:solidFill>
                <a:latin typeface="Consolas"/>
              </a:rPr>
              <a:t>predict_risk(request)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19" y="3108960"/>
            <a:ext cx="246888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snapshot_of, risk_level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195559" y="1938528"/>
            <a:ext cx="0" cy="301752"/>
          </a:xfrm>
          <a:prstGeom prst="line">
            <a:avLst/>
          </a:prstGeom>
          <a:ln w="25400">
            <a:solidFill>
              <a:srgbClr val="14B8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915399" y="2286000"/>
            <a:ext cx="265176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7F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39" y="2304288"/>
            <a:ext cx="2468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B3D"/>
                </a:solidFill>
                <a:latin typeface="Calibri"/>
              </a:rPr>
              <a:t>assistant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2651760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0E7F74"/>
                </a:solidFill>
                <a:latin typeface="Consolas"/>
              </a:rPr>
              <a:t>chat(request, llm)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39" y="3108960"/>
            <a:ext cx="246888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validate_call, to_openai_messages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023360"/>
            <a:ext cx="3566160" cy="1348740"/>
          </a:xfrm>
          <a:prstGeom prst="rect">
            <a:avLst/>
          </a:prstGeom>
          <a:solidFill>
            <a:srgbClr val="FFFFFF"/>
          </a:solidFill>
          <a:ln w="1587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023360"/>
            <a:ext cx="3566160" cy="566928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14B8A6"/>
                </a:solidFill>
                <a:latin typeface="Calibri"/>
              </a:rPr>
              <a:t>&lt;&lt;ml&gt;&gt;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NaiveBayesClassifier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626864"/>
            <a:ext cx="3474720" cy="7818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0F1B3D"/>
                </a:solidFill>
                <a:latin typeface="Consolas"/>
              </a:rPr>
              <a:t>+ fit(texts, labels)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0F1B3D"/>
                </a:solidFill>
                <a:latin typeface="Consolas"/>
              </a:rPr>
              <a:t>+ predict_proba(text)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0F1B3D"/>
                </a:solidFill>
                <a:latin typeface="Consolas"/>
              </a:rPr>
              <a:t>+ predict(text)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4023360"/>
            <a:ext cx="3566160" cy="1348740"/>
          </a:xfrm>
          <a:prstGeom prst="rect">
            <a:avLst/>
          </a:prstGeom>
          <a:solidFill>
            <a:srgbClr val="FFFFFF"/>
          </a:solidFill>
          <a:ln w="1587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4023360"/>
            <a:ext cx="3566160" cy="566928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14B8A6"/>
                </a:solidFill>
                <a:latin typeface="Calibri"/>
              </a:rPr>
              <a:t>&lt;&lt;ml&gt;&gt;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LogisticRegression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626864"/>
            <a:ext cx="3474720" cy="7818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0F1B3D"/>
                </a:solidFill>
                <a:latin typeface="Consolas"/>
              </a:rPr>
              <a:t>+ fit(rows, labels)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0F1B3D"/>
                </a:solidFill>
                <a:latin typeface="Consolas"/>
              </a:rPr>
              <a:t>+ predict_proba(row)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0F1B3D"/>
                </a:solidFill>
                <a:latin typeface="Consolas"/>
              </a:rPr>
              <a:t>+ contributions(row)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4023360"/>
            <a:ext cx="3566160" cy="1124712"/>
          </a:xfrm>
          <a:prstGeom prst="rect">
            <a:avLst/>
          </a:prstGeom>
          <a:solidFill>
            <a:srgbClr val="FFFFFF"/>
          </a:solidFill>
          <a:ln w="15875">
            <a:solidFill>
              <a:srgbClr val="0E7F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4023360"/>
            <a:ext cx="3566160" cy="566928"/>
          </a:xfrm>
          <a:prstGeom prst="rect">
            <a:avLst/>
          </a:prstGeom>
          <a:solidFill>
            <a:srgbClr val="0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&lt;&lt;adapter externe&gt;&gt;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OpenAiClient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626864"/>
            <a:ext cx="3474720" cy="5577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0F1B3D"/>
                </a:solidFill>
                <a:latin typeface="Consolas"/>
              </a:rPr>
              <a:t>+ complete_json(system, user, ...)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0F1B3D"/>
                </a:solidFill>
                <a:latin typeface="Consolas"/>
              </a:rPr>
              <a:t>+ chat(messages, tools)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86400"/>
            <a:ext cx="722376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>Planification : classification du type de tâche. Risque de retard : probabilité et facteurs.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</a:rPr>
              <a:t>Sans clé OpenAI, l'analyseur local reste disponible.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Calibri"/>
              </a:rPr>
              <a:t>RAFFINEMENT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White box du frontend (Angular)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Atelier 3 – Smart Project Manager – Vue building block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11064240" cy="5943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features/   composants et services par module fonctionnel (chargés à la demande)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DDF5F2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F1B3D"/>
                </a:solidFill>
                <a:latin typeface="Calibri"/>
              </a:rPr>
              <a:t>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38528" y="201168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DDF5F2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F1B3D"/>
                </a:solidFill>
                <a:latin typeface="Calibri"/>
              </a:rPr>
              <a:t>projects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8416" y="201168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DDF5F2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F1B3D"/>
                </a:solidFill>
                <a:latin typeface="Calibri"/>
              </a:rPr>
              <a:t>sprints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18304" y="201168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DDF5F2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F1B3D"/>
                </a:solidFill>
                <a:latin typeface="Calibri"/>
              </a:rPr>
              <a:t>tasks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201168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DDF5F2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F1B3D"/>
                </a:solidFill>
                <a:latin typeface="Calibri"/>
              </a:rPr>
              <a:t>kanban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01168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DDF5F2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F1B3D"/>
                </a:solidFill>
                <a:latin typeface="Calibri"/>
              </a:rPr>
              <a:t>comments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87968" y="201168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DDF5F2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F1B3D"/>
                </a:solidFill>
                <a:latin typeface="Calibri"/>
              </a:rPr>
              <a:t>activity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77856" y="201168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DDF5F2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F1B3D"/>
                </a:solidFill>
                <a:latin typeface="Calibri"/>
              </a:rPr>
              <a:t>notifications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56032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DDF5F2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F1B3D"/>
                </a:solidFill>
                <a:latin typeface="Calibri"/>
              </a:rPr>
              <a:t>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38528" y="256032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DDF5F2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F1B3D"/>
                </a:solidFill>
                <a:latin typeface="Calibri"/>
              </a:rPr>
              <a:t>search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28416" y="256032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DDF5F2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F1B3D"/>
                </a:solidFill>
                <a:latin typeface="Calibri"/>
              </a:rPr>
              <a:t>profile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18304" y="256032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DDF5F2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F1B3D"/>
                </a:solidFill>
                <a:latin typeface="Calibri"/>
              </a:rPr>
              <a:t>users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08192" y="256032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FDF0D5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F1B3D"/>
                </a:solidFill>
                <a:latin typeface="Calibri"/>
              </a:rPr>
              <a:t>ai-plan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256032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FDF0D5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F1B3D"/>
                </a:solidFill>
                <a:latin typeface="Calibri"/>
              </a:rPr>
              <a:t>ai-recommendation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8" y="256032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FDF0D5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F1B3D"/>
                </a:solidFill>
                <a:latin typeface="Calibri"/>
              </a:rPr>
              <a:t>ai-risk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77856" y="256032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FDF0D5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>
                <a:solidFill>
                  <a:srgbClr val="0F1B3D"/>
                </a:solidFill>
                <a:latin typeface="Calibri"/>
              </a:rPr>
              <a:t>ai-assistant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43200" y="3200400"/>
            <a:ext cx="0" cy="411480"/>
          </a:xfrm>
          <a:prstGeom prst="line">
            <a:avLst/>
          </a:prstGeom>
          <a:ln w="22225">
            <a:solidFill>
              <a:srgbClr val="0F1B3D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229600" y="3200400"/>
            <a:ext cx="0" cy="411480"/>
          </a:xfrm>
          <a:prstGeom prst="line">
            <a:avLst/>
          </a:prstGeom>
          <a:ln w="22225">
            <a:solidFill>
              <a:srgbClr val="0F1B3D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65760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703320"/>
            <a:ext cx="5120640" cy="1737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300" b="0" i="0">
                <a:solidFill>
                  <a:srgbClr val="0F1B3D"/>
                </a:solidFill>
                <a:latin typeface="Calibri"/>
              </a:rPr>
              <a:t>core/ – services singletons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0F1B3D"/>
                </a:solidFill>
                <a:latin typeface="Calibri"/>
              </a:rPr>
              <a:t>AuthService, AuthInterceptor, guards, ApiErrorInterceptor,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0F1B3D"/>
                </a:solidFill>
                <a:latin typeface="Calibri"/>
              </a:rPr>
              <a:t>NotificationService, ThemeService, ToastService, modèles d'API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65760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703320"/>
            <a:ext cx="5120640" cy="1737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300" b="0" i="0">
                <a:solidFill>
                  <a:srgbClr val="0F1B3D"/>
                </a:solidFill>
                <a:latin typeface="Calibri"/>
              </a:rPr>
              <a:t>shared/ – briques réutilisables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0F1B3D"/>
                </a:solidFill>
                <a:latin typeface="Calibri"/>
              </a:rPr>
              <a:t>loading-state, error-state, confirm-dialog, tag-input,</a:t>
            </a:r>
          </a:p>
          <a:p>
            <a:pPr>
              <a:spcAft>
                <a:spcPts val="300"/>
              </a:spcAft>
            </a:pPr>
            <a:r>
              <a:rPr sz="1300" b="0" i="0">
                <a:solidFill>
                  <a:srgbClr val="0F1B3D"/>
                </a:solidFill>
                <a:latin typeface="Calibri"/>
              </a:rPr>
              <a:t>chart, avatar, validateurs de formulaires, PagedList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0E7F74"/>
                </a:solidFill>
                <a:latin typeface="Calibri"/>
              </a:rPr>
              <a:t>layouts/ (main, auth) dépend de core/. Les features dépendent de core/ et shared/, jamais l'inverse.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4B8A6"/>
                </a:solidFill>
                <a:latin typeface="Calibri"/>
              </a:rPr>
              <a:t>DÉCISIONS D'ARCHITECTURE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Du modèle aux qualités attendues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4B5563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4B5563"/>
                </a:solidFill>
                <a:latin typeface="Calibri"/>
              </a:rPr>
              <a:t>Atelier 3 – Smart Project Manager – Vue building block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554480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1508760"/>
            <a:ext cx="2697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F1B3D"/>
                </a:solidFill>
                <a:latin typeface="Calibri"/>
              </a:rPr>
              <a:t>Maintenabilité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21408"/>
            <a:ext cx="320040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Couches et packages : une modification d'un module n'impacte pas les modules indépendants.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37160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0559" y="155448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10912" y="1508760"/>
            <a:ext cx="2697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F1B3D"/>
                </a:solidFill>
                <a:latin typeface="Calibri"/>
              </a:rPr>
              <a:t>Modularité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121408"/>
            <a:ext cx="320040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Frontend, backend et IA sont trois blocs déployables séparément.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37160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9" y="1554480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59951" y="1508760"/>
            <a:ext cx="2697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F1B3D"/>
                </a:solidFill>
                <a:latin typeface="Calibri"/>
              </a:rPr>
              <a:t>Sécurité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2121408"/>
            <a:ext cx="320040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Contrôle d'accès centralisé dans Identity et Projects ; secrets uniquement côté serveur.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402336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61872" y="3977640"/>
            <a:ext cx="2697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F1B3D"/>
                </a:solidFill>
                <a:latin typeface="Calibri"/>
              </a:rPr>
              <a:t>Résilience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90288"/>
            <a:ext cx="320040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L'IA est optionnelle : une panne n'arrête pas la gestion de projets.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79" y="384048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80559" y="4023360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3977640"/>
            <a:ext cx="2697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F1B3D"/>
                </a:solidFill>
                <a:latin typeface="Calibri"/>
              </a:rPr>
              <a:t>Testabilité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4590288"/>
            <a:ext cx="320040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Services purs et interfaces explicites, tests unitaires par bloc.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19" y="384048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29599" y="402336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59951" y="3977640"/>
            <a:ext cx="2697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F1B3D"/>
                </a:solidFill>
                <a:latin typeface="Calibri"/>
              </a:rPr>
              <a:t>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9" y="4590288"/>
            <a:ext cx="320040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300"/>
              </a:spcAft>
            </a:pPr>
            <a:r>
              <a:rPr sz="1400" b="0" i="0">
                <a:solidFill>
                  <a:srgbClr val="4B5563"/>
                </a:solidFill>
                <a:latin typeface="Calibri"/>
              </a:rPr>
              <a:t>Requêtes indexées, appels IA avec délai limité.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14B8A6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Ce que la vue building block apporte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468880"/>
            <a:ext cx="5120640" cy="1508760"/>
          </a:xfrm>
          <a:prstGeom prst="rect">
            <a:avLst/>
          </a:prstGeom>
          <a:solidFill>
            <a:srgbClr val="1A2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578608"/>
            <a:ext cx="46634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14B8A6"/>
                </a:solidFill>
                <a:latin typeface="Calibri"/>
              </a:rPr>
              <a:t>3 niveaux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108960"/>
            <a:ext cx="46634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E2E8F0"/>
                </a:solidFill>
                <a:latin typeface="Calibri"/>
              </a:rPr>
              <a:t>Système (black box), blocs exécutables, packages et classes (white box).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468880"/>
            <a:ext cx="5120640" cy="1508760"/>
          </a:xfrm>
          <a:prstGeom prst="rect">
            <a:avLst/>
          </a:prstGeom>
          <a:solidFill>
            <a:srgbClr val="1A2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578608"/>
            <a:ext cx="46634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14B8A6"/>
                </a:solidFill>
                <a:latin typeface="Calibri"/>
              </a:rPr>
              <a:t>7 packages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108960"/>
            <a:ext cx="46634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E2E8F0"/>
                </a:solidFill>
                <a:latin typeface="Calibri"/>
              </a:rPr>
              <a:t>Un par groupe d'exigences FR-01 à FR-15, avec des dépendances sans cycle.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206240"/>
            <a:ext cx="5120640" cy="1508760"/>
          </a:xfrm>
          <a:prstGeom prst="rect">
            <a:avLst/>
          </a:prstGeom>
          <a:solidFill>
            <a:srgbClr val="1A2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315968"/>
            <a:ext cx="46634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14B8A6"/>
                </a:solidFill>
                <a:latin typeface="Calibri"/>
              </a:rPr>
              <a:t>5 interfaces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846320"/>
            <a:ext cx="46634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E2E8F0"/>
                </a:solidFill>
                <a:latin typeface="Calibri"/>
              </a:rPr>
              <a:t>REST publique, persistance, API IA, état de santé et API LLM, chacune fournie et requise.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206240"/>
            <a:ext cx="5120640" cy="1508760"/>
          </a:xfrm>
          <a:prstGeom prst="rect">
            <a:avLst/>
          </a:prstGeom>
          <a:solidFill>
            <a:srgbClr val="1A2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315968"/>
            <a:ext cx="46634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14B8A6"/>
                </a:solidFill>
                <a:latin typeface="Calibri"/>
              </a:rPr>
              <a:t>Méthodes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846320"/>
            <a:ext cx="46634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E2E8F0"/>
                </a:solidFill>
                <a:latin typeface="Calibri"/>
              </a:rPr>
              <a:t>Classes principales documentées pour guider l'implémentation et les tests.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</a:rPr>
              <a:t>Merci –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